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FFFFF"/>
                </a:solidFill>
              </a:rPr>
              <a:t>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164592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Preditor de Risco de Desmatamento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F7D0"/>
                </a:solidFill>
              </a:rPr>
              <a:t>Amazônia Legal · Machine Learning aplicado à conservação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772 municípios · 9 estados · 2008–2025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4D6B"/>
                </a:solidFill>
              </a:rPr>
              <a:t>🌳  Amazônia Legal: 5,2 milhões km² de floresta tropical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659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4D6B"/>
                </a:solidFill>
              </a:rPr>
              <a:t>📊  Desmatamento histórico: pico em 2004, redução até 2012, reaceleração após 2018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4D6B"/>
                </a:solidFill>
              </a:rPr>
              <a:t>⚠️  Necessidade: identificar municípios de alto risco antes do desmatamento ocorrer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375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4D6B"/>
                </a:solidFill>
              </a:rPr>
              <a:t>🤖  Solução: modelo preditivo com score de risco atualizado anualmente por município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4572000"/>
            <a:ext cx="10972800" cy="1005840"/>
          </a:xfrm>
          <a:prstGeom prst="rect">
            <a:avLst/>
          </a:prstGeom>
          <a:solidFill>
            <a:srgbClr val="BBF7D0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/>
            <a:r>
              <a:rPr sz="1400" b="1">
                <a:solidFill>
                  <a:srgbClr val="166534"/>
                </a:solidFill>
              </a:rPr>
              <a:t>Objetivo: Score de risco 0–100 por município, atualizável anualmente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</a:rPr>
              <a:t>Pipeline de Dados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18872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Fonte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Dados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Cobertura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INPE/PRODES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Desmatamento km² por município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2008–2025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IBGE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Pop., PIB agropecuário, área municipal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2008–2025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ICMBio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Unidades de conservação e TIs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Estático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IBAMA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Autos de infração ambiental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2008–2025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TerraBrasilis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Geometrias dos municípios (WFS)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Atual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► Ingestão via mcp-brasil (servidor MCP externo)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343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► Join espacial ICMBio/FUNAI: interseção de polígonos UC e TI com limites municipais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► Painel balanceado: 772 municípios × 18 anos = 13.896 observações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</a:rPr>
              <a:t>Features do Modelo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6534"/>
                </a:solidFill>
              </a:rPr>
              <a:t>⏱  Features Temporais (Lag)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taxa_desmat_lag1/2/3 — histórico 1, 2 e 3 anos atrás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taxa_desmat_roll3/5 — média móvel 3 e 5 anos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std_desmat_roll3 — volatilidade (desvio padrão 3 anos)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6534"/>
                </a:solidFill>
              </a:rPr>
              <a:t>🗺  Features Espaciais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16002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local_moran_i — autocorrelação espacial (Queen weights)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19202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area_uc_pct — % área protegida (unidades de conservação)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2402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area_ti_pct — % área de terra indígena (efeito protetor)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200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6534"/>
                </a:solidFill>
              </a:rPr>
              <a:t>📋  Features Socioeconômicas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118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populacao — porte do município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319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pib_agropecuario — pressão do agronegócio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519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autos_ibama — intensidade da fiscalização ambiental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200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6534"/>
                </a:solidFill>
              </a:rPr>
              <a:t>🔢  Features Categoriais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36118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uf — efeito fixo de estado (9 categorias)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39319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cluster_id — perfil HDBSCAN do município (0–3)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⚠  Data leakage prevention: shift(1) aplicado antes do rolling window — a janela nunca usa o valor do próprio ano.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</a:rPr>
              <a:t>Perfis de Municípios — HDBSCAN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80160"/>
            <a:ext cx="2651760" cy="2560320"/>
          </a:xfrm>
          <a:prstGeom prst="rect">
            <a:avLst/>
          </a:prstGeom>
          <a:solidFill>
            <a:srgbClr val="BBF7D0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/>
            <a:r>
              <a:rPr sz="1100" b="1">
                <a:solidFill>
                  <a:srgbClr val="166534"/>
                </a:solidFill>
              </a:rPr>
              <a:t>Cluster 0</a:t>
            </a:r>
          </a:p>
          <a:p>
            <a:r>
              <a:rPr sz="1300" b="1">
                <a:solidFill>
                  <a:srgbClr val="0F172A"/>
                </a:solidFill>
              </a:rPr>
              <a:t>Baixo risco estável</a:t>
            </a:r>
          </a:p>
          <a:p>
            <a:r>
              <a:rPr sz="1000">
                <a:solidFill>
                  <a:srgbClr val="334D6B"/>
                </a:solidFill>
              </a:rPr>
              <a:t>
Municípios com baixa taxa histórica, longe da fronteira agrícola.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1280160"/>
            <a:ext cx="2651760" cy="2560320"/>
          </a:xfrm>
          <a:prstGeom prst="rect">
            <a:avLst/>
          </a:prstGeom>
          <a:solidFill>
            <a:srgbClr val="FEF9C3"/>
          </a:solidFill>
          <a:ln>
            <a:solidFill>
              <a:srgbClr val="71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/>
            <a:r>
              <a:rPr sz="1100" b="1">
                <a:solidFill>
                  <a:srgbClr val="714B00"/>
                </a:solidFill>
              </a:rPr>
              <a:t>Cluster 1</a:t>
            </a:r>
          </a:p>
          <a:p>
            <a:r>
              <a:rPr sz="1300" b="1">
                <a:solidFill>
                  <a:srgbClr val="0F172A"/>
                </a:solidFill>
              </a:rPr>
              <a:t>Risco moderado crescente</a:t>
            </a:r>
          </a:p>
          <a:p>
            <a:r>
              <a:rPr sz="1000">
                <a:solidFill>
                  <a:srgbClr val="334D6B"/>
                </a:solidFill>
              </a:rPr>
              <a:t>
Pressão agropecuária em ascensão, poucas UCs.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80160"/>
            <a:ext cx="2651760" cy="2560320"/>
          </a:xfrm>
          <a:prstGeom prst="rect">
            <a:avLst/>
          </a:prstGeom>
          <a:solidFill>
            <a:srgbClr val="FFEDD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/>
            <a:r>
              <a:rPr sz="1100" b="1">
                <a:solidFill>
                  <a:srgbClr val="F97316"/>
                </a:solidFill>
              </a:rPr>
              <a:t>Cluster 2</a:t>
            </a:r>
          </a:p>
          <a:p>
            <a:r>
              <a:rPr sz="1300" b="1">
                <a:solidFill>
                  <a:srgbClr val="0F172A"/>
                </a:solidFill>
              </a:rPr>
              <a:t>Alto risco – fronteira</a:t>
            </a:r>
          </a:p>
          <a:p>
            <a:r>
              <a:rPr sz="1000">
                <a:solidFill>
                  <a:srgbClr val="334D6B"/>
                </a:solidFill>
              </a:rPr>
              <a:t>
Alta taxa de desmatamento, hotspots históricos de soja/pecuária.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9235440" y="1280160"/>
            <a:ext cx="2651760" cy="2560320"/>
          </a:xfrm>
          <a:prstGeom prst="rect">
            <a:avLst/>
          </a:prstGeom>
          <a:solidFill>
            <a:srgbClr val="FEE2E2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/>
          <a:lstStyle/>
          <a:p>
            <a:pPr algn="ctr"/>
            <a:r>
              <a:rPr sz="1100" b="1">
                <a:solidFill>
                  <a:srgbClr val="EF4444"/>
                </a:solidFill>
              </a:rPr>
              <a:t>Cluster 3</a:t>
            </a:r>
          </a:p>
          <a:p>
            <a:r>
              <a:rPr sz="1300" b="1">
                <a:solidFill>
                  <a:srgbClr val="0F172A"/>
                </a:solidFill>
              </a:rPr>
              <a:t>Hotspot crítico</a:t>
            </a:r>
          </a:p>
          <a:p>
            <a:r>
              <a:rPr sz="1000">
                <a:solidFill>
                  <a:srgbClr val="334D6B"/>
                </a:solidFill>
              </a:rPr>
              <a:t>
Taxa máxima de desmatamento, baixa proteção territorial.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89 municípios classificados como ruído (−1) — 12% do total · Silhouette médio = 0.23 (espaço QuantileTransformer)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663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Features de clustering: taxa_desmatamento, área_km2, populacao, pib_agropecuario, area_uc_pct, area_ti_pct, autos_ibama, local_moran_i, desmat_trend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</a:rPr>
              <a:t>LightGBM + Optuna — Validação Espacial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80160"/>
            <a:ext cx="2560320" cy="118872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2600" b="1">
                <a:solidFill>
                  <a:srgbClr val="166534"/>
                </a:solidFill>
              </a:rPr>
              <a:t>0.76</a:t>
            </a:r>
          </a:p>
          <a:p>
            <a:r>
              <a:rPr sz="1100">
                <a:solidFill>
                  <a:srgbClr val="64748B"/>
                </a:solidFill>
              </a:rPr>
              <a:t>R² médio (spatial CV)</a:t>
            </a:r>
          </a:p>
        </p:txBody>
      </p:sp>
      <p:sp>
        <p:nvSpPr>
          <p:cNvPr id="5" name="Rectangle 4"/>
          <p:cNvSpPr/>
          <p:nvPr/>
        </p:nvSpPr>
        <p:spPr>
          <a:xfrm>
            <a:off x="3337560" y="1280160"/>
            <a:ext cx="2560320" cy="118872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2600" b="1">
                <a:solidFill>
                  <a:srgbClr val="334D6B"/>
                </a:solidFill>
              </a:rPr>
              <a:t>0.109</a:t>
            </a:r>
          </a:p>
          <a:p>
            <a:r>
              <a:rPr sz="1100">
                <a:solidFill>
                  <a:srgbClr val="64748B"/>
                </a:solidFill>
              </a:rPr>
              <a:t>RMSE médio (%/ano)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0760" y="1280160"/>
            <a:ext cx="2560320" cy="118872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2600" b="1">
                <a:solidFill>
                  <a:srgbClr val="6D28D9"/>
                </a:solidFill>
              </a:rPr>
              <a:t>55</a:t>
            </a:r>
          </a:p>
          <a:p>
            <a:r>
              <a:rPr sz="1100">
                <a:solidFill>
                  <a:srgbClr val="64748B"/>
                </a:solidFill>
              </a:rPr>
              <a:t>Trials Optuna</a:t>
            </a:r>
          </a:p>
        </p:txBody>
      </p:sp>
      <p:sp>
        <p:nvSpPr>
          <p:cNvPr id="7" name="Rectangle 6"/>
          <p:cNvSpPr/>
          <p:nvPr/>
        </p:nvSpPr>
        <p:spPr>
          <a:xfrm>
            <a:off x="8823960" y="1280160"/>
            <a:ext cx="2560320" cy="118872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2600" b="1">
                <a:solidFill>
                  <a:srgbClr val="22C55E"/>
                </a:solidFill>
              </a:rPr>
              <a:t>3.9%</a:t>
            </a:r>
          </a:p>
          <a:p>
            <a:r>
              <a:rPr sz="1100">
                <a:solidFill>
                  <a:srgbClr val="64748B"/>
                </a:solidFill>
              </a:rPr>
              <a:t>Melhoria vs baseline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283464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UF(s)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MA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2.715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0.114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0.055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0.748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2.160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0.118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MT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2.115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0.114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0.052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0.793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RR + 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2.310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AC+AM+AP+RO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2.280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0.132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0.064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0.853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MÉDIA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11.580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0.759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Validação espacial por UF (GroupKFold) evita data leakage geográfico — o modelo nunca treina e valida na mesma região.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</a:rPr>
              <a:t>Interpretabilidade — SHAP</a:t>
            </a:r>
          </a:p>
        </p:txBody>
      </p:sp>
      <p:pic>
        <p:nvPicPr>
          <p:cNvPr id="4" name="Picture 3" descr="shap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713232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6534"/>
                </a:solidFill>
              </a:rPr>
              <a:t>Principais insights: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79" y="164592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• taxa_desmat_lag1 é o preditor mais importante em todos os clusters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2304288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• local_moran_i revela efeito de contágio regional: municípios vizinhos de hotspots têm risco elevado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962656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• area_ti_pct tem efeito protetor consistente (SHAP negativo)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3621024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• autos_ibama tem dupla interpretação: fiscalização onde o risco já é alto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4279392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• pib_agropecuario amplifica o risco na fronteira agrícola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</a:rPr>
              <a:t>Municípios de Maior Risco — 2025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18872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37407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Município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UF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Score (0–100)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Taxa (%/ano)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Desmat. (km²)</a:t>
                      </a:r>
                    </a:p>
                  </a:txBody>
                  <a:tcPr>
                    <a:solidFill>
                      <a:srgbClr val="166534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Nova Santa Helena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MT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100.0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2.8317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62.4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União do Sul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99.7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1.6129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73.9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Marcelândia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MT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99.5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1.2862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158.0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Mojuí dos Campos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99.5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1.5949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49.1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Tailândia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PA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98.9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0.8804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39.0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Nova Esperança do Piriá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98.8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2.0497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57.6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Cachoeira do Piriá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PA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98.5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0.8762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21.6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Peixoto de Azevedo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98.4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0.8108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115.6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Cláudia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MT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98.3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0.6317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24.3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740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São José do Xingu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98.3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1.0712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F172A"/>
                          </a:solidFill>
                        </a:rPr>
                        <a:t>79.9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</a:rPr>
              <a:t>Score = ranking percentílico global sobre todos os 2025 previstos · Maior score = maior risco relativo histórico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</a:rPr>
              <a:t>Dashboards Interativos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80160"/>
            <a:ext cx="10972800" cy="1463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66534"/>
                </a:solidFill>
              </a:rPr>
              <a:t>🐍  Streamlit</a:t>
            </a:r>
          </a:p>
          <a:p>
            <a:r>
              <a:rPr sz="1100">
                <a:solidFill>
                  <a:srgbClr val="334D6B"/>
                </a:solidFill>
              </a:rPr>
              <a:t>Análise exploratória interativa — filtros dinâmicos de ano, UF e cluster.
Mapa Folium + Plotly + tabela de ranking. Execução local.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2926080"/>
            <a:ext cx="10972800" cy="1463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66534"/>
                </a:solidFill>
              </a:rPr>
              <a:t>🌐  HTML/Leaflet</a:t>
            </a:r>
          </a:p>
          <a:p>
            <a:r>
              <a:rPr sz="1100">
                <a:solidFill>
                  <a:srgbClr val="334D6B"/>
                </a:solidFill>
              </a:rPr>
              <a:t>Dashboard single-file (reports/dashboard.html) — Tailwind CSS + Leaflet.js + Chart.js.
Sem dependências de servidor. Distribuição pública via e-mail ou GitHub Pages.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4572000"/>
            <a:ext cx="10972800" cy="146304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166534"/>
                </a:solidFill>
              </a:rPr>
              <a:t>🔄  Atualização Anual</a:t>
            </a:r>
          </a:p>
          <a:p>
            <a:r>
              <a:rPr sz="1100">
                <a:solidFill>
                  <a:srgbClr val="334D6B"/>
                </a:solidFill>
              </a:rPr>
              <a:t>Re-executar pipeline completo em ~15 min: ingestão MCP → ETL → features → modelo → scores.
Cache local evita redownload de dados históricos.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88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6534"/>
                </a:solidFill>
              </a:rPr>
              <a:t>🛰️  Alertas em tempo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7639" y="11887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Integração com DETER/INPE para monitoramento semanal de alertas de desmatamento.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6534"/>
                </a:solidFill>
              </a:rPr>
              <a:t>🌿  Expansão por bioma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21031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Modelos específicos para Cerrado, Caatinga e Pantanal — cada bioma tem dinâmicas distintas.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17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6534"/>
                </a:solidFill>
              </a:rPr>
              <a:t>🔌  API 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175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Endpoint público para consumo dos scores por órgãos ambientais (IBAMA, ICMBio, MMA).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6534"/>
                </a:solidFill>
              </a:rPr>
              <a:t>📡  Dados climáticos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39319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Incorporar precipitação (CHIRPS), temperatura e índices de seca como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846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6534"/>
                </a:solidFill>
              </a:rPr>
              <a:t>🤝  Validação com especialistas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48463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D6B"/>
                </a:solidFill>
              </a:rPr>
              <a:t>Calibração do modelo com gestores do INPE e pesquisadores do IPAM.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5760720"/>
            <a:ext cx="10972800" cy="731520"/>
          </a:xfrm>
          <a:prstGeom prst="rect">
            <a:avLst/>
          </a:prstGeom>
          <a:solidFill>
            <a:srgbClr val="BBF7D0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91440"/>
          <a:lstStyle/>
          <a:p>
            <a:pPr algn="ctr"/>
            <a:r>
              <a:rPr sz="1200">
                <a:solidFill>
                  <a:srgbClr val="166534"/>
                </a:solidFill>
              </a:rPr>
              <a:t>Caio Figueiredo · caio.g.figueiredo@accenture.com · Data Science Portfolio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
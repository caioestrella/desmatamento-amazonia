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46720" y="-1097280"/>
            <a:ext cx="5029200" cy="5029200"/>
          </a:xfrm>
          <a:prstGeom prst="ellipse">
            <a:avLst/>
          </a:prstGeom>
          <a:solidFill>
            <a:srgbClr val="104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1097280"/>
            <a:ext cx="3474720" cy="3474720"/>
          </a:xfrm>
          <a:prstGeom prst="ellipse">
            <a:avLst/>
          </a:prstGeom>
          <a:solidFill>
            <a:srgbClr val="0D3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0" y="4114800"/>
            <a:ext cx="2560320" cy="2560320"/>
          </a:xfrm>
          <a:prstGeom prst="ellipse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D3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0292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0" i="0">
                <a:solidFill>
                  <a:srgbClr val="FFFFFF"/>
                </a:solidFill>
              </a:rPr>
              <a:t>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Preditor de Risco de Desmatamento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816352"/>
            <a:ext cx="4754880" cy="5029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4436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BF7D0"/>
                </a:solidFill>
              </a:rPr>
              <a:t>Amazônia Legal  ·  Machine Learning para Conservação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4476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808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825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F7D0"/>
                </a:solidFill>
              </a:rPr>
              <a:t>municípios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614476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63825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F7D0"/>
                </a:solidFill>
              </a:rPr>
              <a:t>estados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614476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18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63825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F7D0"/>
                </a:solidFill>
              </a:rPr>
              <a:t>2008–2025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614476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63825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F7D0"/>
                </a:solidFill>
              </a:rPr>
              <a:t>previsão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54864" cy="5303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56032"/>
            <a:ext cx="1102766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O Problema &amp; Objetivo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77824"/>
            <a:ext cx="121889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382512"/>
            <a:ext cx="12188952" cy="4800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8251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Preditor de Risco · Amazônia 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2 /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078992"/>
            <a:ext cx="11155680" cy="96012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43584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F172A"/>
                </a:solidFill>
              </a:rPr>
              <a:t>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1152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5,2 milhões km²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1536192"/>
            <a:ext cx="101955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A Amazônia Legal cobre 59% do território brasileiro — o maior bioma tropical do planeta.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76272"/>
            <a:ext cx="11155680" cy="96012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340864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F172A"/>
                </a:solidFill>
              </a:rPr>
              <a:t>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22494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Reaceleração pós-2019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2633472"/>
            <a:ext cx="101955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Após a mínima histórica em 2012, o desmatamento acelerou: 12.415 km² em 2021 (pico recente).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273552"/>
            <a:ext cx="11155680" cy="96012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38144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F172A"/>
                </a:solidFill>
              </a:rPr>
              <a:t>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Resposta tardia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2728" y="3730752"/>
            <a:ext cx="101955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Alertas INPE chegam com 12–18 meses de defasagem. Fiscalização precisa de antecipação.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70831"/>
            <a:ext cx="11155680" cy="96012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535423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F172A"/>
                </a:solidFill>
              </a:rPr>
              <a:t>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2728" y="4443983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Nossa solução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" y="4828031"/>
            <a:ext cx="1019555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Score 0–100 por município, recalculável anualmente. Identifica hotspots antes da perda florestal.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59552"/>
            <a:ext cx="11155680" cy="658368"/>
          </a:xfrm>
          <a:prstGeom prst="rect">
            <a:avLst/>
          </a:prstGeom>
          <a:solidFill>
            <a:srgbClr val="F0FDF4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05272"/>
            <a:ext cx="107899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🎯  Objetivo: Score de risco 0–100 por município · Rank percentílico anual · Atualizável a cada publicação INPE/PRODES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54864" cy="5303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56032"/>
            <a:ext cx="1102766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Pipeline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731520"/>
            <a:ext cx="110276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Todas as fontes são APIs públicas acessadas via mcp-brasil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7824"/>
            <a:ext cx="121889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82512"/>
            <a:ext cx="12188952" cy="4800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8251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Preditor de Risco · Amazônia Legal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3 / 10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" y="1033272"/>
          <a:ext cx="111556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8862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Fonte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Dados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Cobertura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Frequência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INPE / PRODES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Desmatamento km² por município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2008–2025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Anual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IBGE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População, PIB agropecuário, área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2008–2025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ICMBio / FUNAI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Unidades de conservação + Terras Indígenas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Estático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IBAMA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Autos de infração ambiental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2008–2025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IBGE FTP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Shapefile de municípios (geometrias)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2022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502920" y="3547872"/>
            <a:ext cx="50292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3212" y="3547872"/>
            <a:ext cx="2510027" cy="91440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2800" b="1">
                <a:solidFill>
                  <a:srgbClr val="166534"/>
                </a:solidFill>
              </a:rPr>
              <a:t>808</a:t>
            </a:r>
          </a:p>
          <a:p>
            <a:r>
              <a:rPr sz="1100" b="1">
                <a:solidFill>
                  <a:srgbClr val="334D6B"/>
                </a:solidFill>
              </a:rPr>
              <a:t>municípios</a:t>
            </a:r>
          </a:p>
          <a:p>
            <a:r>
              <a:rPr sz="900">
                <a:solidFill>
                  <a:srgbClr val="64748B"/>
                </a:solidFill>
              </a:rPr>
              <a:t>Amazônia Legal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3547872"/>
            <a:ext cx="50292" cy="91440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50692" y="3547872"/>
            <a:ext cx="2510027" cy="91440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2800" b="1">
                <a:solidFill>
                  <a:srgbClr val="334D6B"/>
                </a:solidFill>
              </a:rPr>
              <a:t>9</a:t>
            </a:r>
          </a:p>
          <a:p>
            <a:r>
              <a:rPr sz="1100" b="1">
                <a:solidFill>
                  <a:srgbClr val="334D6B"/>
                </a:solidFill>
              </a:rPr>
              <a:t>estados</a:t>
            </a:r>
          </a:p>
          <a:p>
            <a:r>
              <a:rPr sz="900">
                <a:solidFill>
                  <a:srgbClr val="64748B"/>
                </a:solidFill>
              </a:rPr>
              <a:t>AM, PA, MT, RO, AC, AP, RR, TO, MA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7880" y="3547872"/>
            <a:ext cx="50292" cy="9144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8172" y="3547872"/>
            <a:ext cx="2510027" cy="91440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2800" b="1">
                <a:solidFill>
                  <a:srgbClr val="0EA5E9"/>
                </a:solidFill>
              </a:rPr>
              <a:t>14.544</a:t>
            </a:r>
          </a:p>
          <a:p>
            <a:r>
              <a:rPr sz="1100" b="1">
                <a:solidFill>
                  <a:srgbClr val="334D6B"/>
                </a:solidFill>
              </a:rPr>
              <a:t>observações</a:t>
            </a:r>
          </a:p>
          <a:p>
            <a:r>
              <a:rPr sz="900">
                <a:solidFill>
                  <a:srgbClr val="64748B"/>
                </a:solidFill>
              </a:rPr>
              <a:t>históricas (808 × 18 anos)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3547872"/>
            <a:ext cx="50292" cy="9144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45652" y="3547872"/>
            <a:ext cx="2510027" cy="91440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2800" b="1">
                <a:solidFill>
                  <a:srgbClr val="F97316"/>
                </a:solidFill>
              </a:rPr>
              <a:t>808</a:t>
            </a:r>
          </a:p>
          <a:p>
            <a:r>
              <a:rPr sz="1100" b="1">
                <a:solidFill>
                  <a:srgbClr val="334D6B"/>
                </a:solidFill>
              </a:rPr>
              <a:t>previsões</a:t>
            </a:r>
          </a:p>
          <a:p>
            <a:r>
              <a:rPr sz="900">
                <a:solidFill>
                  <a:srgbClr val="64748B"/>
                </a:solidFill>
              </a:rPr>
              <a:t>2026 via LightGBM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7091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► Cache local em data/raw/ — API chamada apenas uma vez por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566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► Join espacial ICMBio/FUNAI: interseção de polígonos UC e TI com limites municipais (GeoPandas)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0410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► Dados IBGE com lacunas preenchidas por forward-fill anual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7607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4D6B"/>
                </a:solidFill>
              </a:rPr>
              <a:t>Desmatamento total — Amazônia Legal (km²/ano, seleção)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" y="5833872"/>
            <a:ext cx="1147441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291072"/>
            <a:ext cx="15936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334D6B"/>
                </a:solidFill>
              </a:rPr>
              <a:t>2008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69740" y="6138763"/>
            <a:ext cx="1147441" cy="152308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96588" y="6291072"/>
            <a:ext cx="15936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334D6B"/>
                </a:solidFill>
              </a:rPr>
              <a:t>2012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63409" y="6080620"/>
            <a:ext cx="1147441" cy="210451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90257" y="6291072"/>
            <a:ext cx="15936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334D6B"/>
                </a:solidFill>
              </a:rPr>
              <a:t>2015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57077" y="5916236"/>
            <a:ext cx="1147441" cy="374835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83925" y="6291072"/>
            <a:ext cx="15936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334D6B"/>
                </a:solidFill>
              </a:rPr>
              <a:t>2019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50746" y="5863907"/>
            <a:ext cx="1147441" cy="4271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77594" y="6291072"/>
            <a:ext cx="15936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334D6B"/>
                </a:solidFill>
              </a:rPr>
              <a:t>2021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4414" y="6014976"/>
            <a:ext cx="1147441" cy="276095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1262" y="6291072"/>
            <a:ext cx="15936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334D6B"/>
                </a:solidFill>
              </a:rPr>
              <a:t>2023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38083" y="6110173"/>
            <a:ext cx="1147441" cy="180898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64931" y="6291072"/>
            <a:ext cx="15936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334D6B"/>
                </a:solidFill>
              </a:rPr>
              <a:t>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54864" cy="5303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56032"/>
            <a:ext cx="1102766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731520"/>
            <a:ext cx="110276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Lag features, rolling window e análise de autocorrelação espacial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7824"/>
            <a:ext cx="121889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82512"/>
            <a:ext cx="12188952" cy="4800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8251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Preditor de Risco · Amazônia Legal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4 /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078992"/>
            <a:ext cx="5349240" cy="2029968"/>
          </a:xfrm>
          <a:prstGeom prst="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078992"/>
            <a:ext cx="5349240" cy="329184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1155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⏱  Temporais (Lag &amp; Rolling)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1490472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taxa_desmat_lag1/2/3 — histórico 1, 2 e 3 anos atrás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1911096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taxa_desmat_roll3/5  — média móvel 3 e 5 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2331720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std_desmat_roll3     — volatilidade (desvio padrão 3 anos)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59" y="1078992"/>
            <a:ext cx="5349240" cy="2029968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59" y="1078992"/>
            <a:ext cx="5349240" cy="32918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0488" y="11155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🗺  Espaciais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8775" y="1490472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local_moran_i  — autocorrelação espacial (Queen weights)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5" y="1911096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area_uc_pct    — % área protegida por UCs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5" y="2331720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area_ti_pct    — % área de Terra Indígena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27832"/>
            <a:ext cx="5349240" cy="2029968"/>
          </a:xfrm>
          <a:prstGeom prst="rect">
            <a:avLst/>
          </a:prstGeom>
          <a:solidFill>
            <a:srgbClr val="FFEDD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227832"/>
            <a:ext cx="5349240" cy="32918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326440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📋  Socioeconômicas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" y="3639312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populacao        — porte e urbanização do município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059936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pib_agropecuario — pressão do agronegócio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480560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autos_ibama      — intensidade da fiscalização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59" y="3227832"/>
            <a:ext cx="5349240" cy="2029968"/>
          </a:xfrm>
          <a:prstGeom prst="rect">
            <a:avLst/>
          </a:prstGeom>
          <a:solidFill>
            <a:srgbClr val="F5F3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59" y="3227832"/>
            <a:ext cx="5349240" cy="329184"/>
          </a:xfrm>
          <a:prstGeom prst="rect">
            <a:avLst/>
          </a:prstGeom>
          <a:solidFill>
            <a:srgbClr val="793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0488" y="326440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🔢  Categoriais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5" y="3639312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uf         — efeito fixo de estado (9 categorias)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08775" y="4059936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• cluster_id — perfil HDBSCAN do município (0–3)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⚠  Data leakage prevention: shift(1) antes do rolling — a janela nunca usa o valor do próprio ano-alvo.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54864" cy="5303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56032"/>
            <a:ext cx="1102766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Perfis de Municípios — Clusterização HDBSCAN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731520"/>
            <a:ext cx="110276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Features estruturais, sem o target — evita raciocínio circular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7824"/>
            <a:ext cx="121889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82512"/>
            <a:ext cx="12188952" cy="4800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8251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Preditor de Risco · Amazônia Legal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5 /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060704"/>
            <a:ext cx="5349240" cy="2240280"/>
          </a:xfrm>
          <a:prstGeom prst="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060704"/>
            <a:ext cx="5349240" cy="292608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0972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1088136"/>
            <a:ext cx="45720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Alta Proteção Ambiental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1426464"/>
            <a:ext cx="512978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D6B"/>
                </a:solidFill>
              </a:rPr>
              <a:t>Alta cobertura de UCs (38%). Tendência de desmatamento decrescente (0.69×). Municípios com floresta protegida por instrumentos legais.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0665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municípios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232257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212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20665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taxa média/ano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728" y="232257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0.116%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20665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área UC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808" y="232257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38%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59" y="1060704"/>
            <a:ext cx="5349240" cy="224028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59" y="1060704"/>
            <a:ext cx="5349240" cy="2926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0972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1088136"/>
            <a:ext cx="45720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Periféricos Estáveis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1426464"/>
            <a:ext cx="512978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D6B"/>
                </a:solidFill>
              </a:rPr>
              <a:t>Menor porte e PIB. Sem UCs ou TIs relevantes. Baixa pressão agropecuária e desmatamento em queda (0.65×).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20665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EA5E9"/>
                </a:solidFill>
              </a:rPr>
              <a:t>municípios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0488" y="232257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7" y="20665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EA5E9"/>
                </a:solidFill>
              </a:rPr>
              <a:t>taxa média/ano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7" y="232257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0.117%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8" y="20665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EA5E9"/>
                </a:solidFill>
              </a:rPr>
              <a:t>área UC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6648" y="232257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0.3%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438144"/>
            <a:ext cx="5349240" cy="2240280"/>
          </a:xfrm>
          <a:prstGeom prst="rect">
            <a:avLst/>
          </a:prstGeom>
          <a:solidFill>
            <a:srgbClr val="FFEDD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438144"/>
            <a:ext cx="5349240" cy="2926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47472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465576"/>
            <a:ext cx="45720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Fronteira com Terras Indígenas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" y="3803904"/>
            <a:ext cx="512978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D6B"/>
                </a:solidFill>
              </a:rPr>
              <a:t>Alta taxa de desmatamento histórica. Presença de TIs (21%) como barreira natural. Alto PIB agropecuário — fronteira de expansão.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" y="4443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municípios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" y="470001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127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5728" y="4443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taxa média/ano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95728" y="470001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0.183%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8808" y="4443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área TI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8808" y="470001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21%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59" y="3438144"/>
            <a:ext cx="5349240" cy="2240280"/>
          </a:xfrm>
          <a:prstGeom prst="rect">
            <a:avLst/>
          </a:prstGeom>
          <a:solidFill>
            <a:srgbClr val="FEE2E2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0759" y="3438144"/>
            <a:ext cx="5349240" cy="2926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347472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3465576"/>
            <a:ext cx="45720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Grandes · Pressão Crescente 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0488" y="3803904"/>
            <a:ext cx="512978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D6B"/>
                </a:solidFill>
              </a:rPr>
              <a:t>Maior área e população. Alta fiscalização (IBAMA). Tendência preocupante de alta (1.74×) apesar de proteção formal.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0488" y="4443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municípios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0488" y="470001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157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73567" y="4443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taxa média/ano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73567" y="470001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0.176%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56648" y="4443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UC+TI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6648" y="4700016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25%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18134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</a:rPr>
              <a:t>Silhouette = 0.2881  ·  0 municípios como ruído  ·  Features: área, populacao, pib_agropecuario, area_uc_pct, area_ti_pct, autos_ibama, local_moran_i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54864" cy="5303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56032"/>
            <a:ext cx="1102766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Modelo — LightGBM + Optuna + Validação Espacial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731520"/>
            <a:ext cx="110276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GroupKFold por UF — municípios vizinhos nunca no mesmo fold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7824"/>
            <a:ext cx="121889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82512"/>
            <a:ext cx="12188952" cy="4800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8251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Preditor de Risco · Amazônia Legal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6 /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078992"/>
            <a:ext cx="50292" cy="100584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212" y="1078992"/>
            <a:ext cx="2555748" cy="10058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2800" b="1">
                <a:solidFill>
                  <a:srgbClr val="166534"/>
                </a:solidFill>
              </a:rPr>
              <a:t>0.759</a:t>
            </a:r>
          </a:p>
          <a:p>
            <a:r>
              <a:rPr sz="1100" b="1">
                <a:solidFill>
                  <a:srgbClr val="334D6B"/>
                </a:solidFill>
              </a:rPr>
              <a:t>R² médio (spatial CV)</a:t>
            </a:r>
          </a:p>
          <a:p>
            <a:r>
              <a:rPr sz="900">
                <a:solidFill>
                  <a:srgbClr val="64748B"/>
                </a:solidFill>
              </a:rPr>
              <a:t>todos os 5 folds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1078992"/>
            <a:ext cx="50292" cy="1005840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6412" y="1078992"/>
            <a:ext cx="2555748" cy="10058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2800" b="1">
                <a:solidFill>
                  <a:srgbClr val="334D6B"/>
                </a:solidFill>
              </a:rPr>
              <a:t>0.109</a:t>
            </a:r>
          </a:p>
          <a:p>
            <a:r>
              <a:rPr sz="1100" b="1">
                <a:solidFill>
                  <a:srgbClr val="334D6B"/>
                </a:solidFill>
              </a:rPr>
              <a:t>RMSE médio (%/ano)</a:t>
            </a:r>
          </a:p>
          <a:p>
            <a:r>
              <a:rPr sz="900">
                <a:solidFill>
                  <a:srgbClr val="64748B"/>
                </a:solidFill>
              </a:rPr>
              <a:t>taxa de desmatamento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078992"/>
            <a:ext cx="50292" cy="1005840"/>
          </a:xfrm>
          <a:prstGeom prst="rect">
            <a:avLst/>
          </a:prstGeom>
          <a:solidFill>
            <a:srgbClr val="793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9612" y="1078992"/>
            <a:ext cx="2555748" cy="10058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2800" b="1">
                <a:solidFill>
                  <a:srgbClr val="7935DB"/>
                </a:solidFill>
              </a:rPr>
              <a:t>55</a:t>
            </a:r>
          </a:p>
          <a:p>
            <a:r>
              <a:rPr sz="1100" b="1">
                <a:solidFill>
                  <a:srgbClr val="334D6B"/>
                </a:solidFill>
              </a:rPr>
              <a:t>Trials Optuna</a:t>
            </a:r>
          </a:p>
          <a:p>
            <a:r>
              <a:rPr sz="900">
                <a:solidFill>
                  <a:srgbClr val="64748B"/>
                </a:solidFill>
              </a:rPr>
              <a:t>função objetivo: RMSE espacial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32520" y="1078992"/>
            <a:ext cx="50292" cy="10058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82812" y="1078992"/>
            <a:ext cx="2555748" cy="10058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/>
            <a:r>
              <a:rPr sz="2800" b="1">
                <a:solidFill>
                  <a:srgbClr val="0EA5E9"/>
                </a:solidFill>
              </a:rPr>
              <a:t>629</a:t>
            </a:r>
          </a:p>
          <a:p>
            <a:r>
              <a:rPr sz="1100" b="1">
                <a:solidFill>
                  <a:srgbClr val="334D6B"/>
                </a:solidFill>
              </a:rPr>
              <a:t>Estimadores finais</a:t>
            </a:r>
          </a:p>
          <a:p>
            <a:r>
              <a:rPr sz="900">
                <a:solidFill>
                  <a:srgbClr val="64748B"/>
                </a:solidFill>
              </a:rPr>
              <a:t>n_estimators (LightGBM)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02920" y="2267712"/>
          <a:ext cx="1115567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668"/>
                <a:gridCol w="1593668"/>
                <a:gridCol w="1593668"/>
                <a:gridCol w="1593668"/>
                <a:gridCol w="1593668"/>
                <a:gridCol w="1593668"/>
                <a:gridCol w="1593668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Fold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Estado(s)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WMAPE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2.715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0.114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0.055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0.748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30.1%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2.160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2.115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0.114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0.052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31.9%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RR + 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2.310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56.0%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AC+AM+AP+RO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2.280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0.132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0.064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0.853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29.2%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MÉDIA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11.580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0.759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F172A"/>
                          </a:solidFill>
                        </a:rPr>
                        <a:t>34.4%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⚠  Fold 4 (RR+TO): R²=0.548 — regiões esparsas com dados históricos limitados. Resultado documentado e esperado; média nacional ainda acima de 0.75.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54864" cy="5303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56032"/>
            <a:ext cx="1102766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Interpretabilidade —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731520"/>
            <a:ext cx="110276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Feature importance global e explicações por município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7824"/>
            <a:ext cx="121889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82512"/>
            <a:ext cx="12188952" cy="4800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8251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Preditor de Risco · Amazônia Legal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7 / 10</a:t>
            </a:r>
          </a:p>
        </p:txBody>
      </p:sp>
      <p:pic>
        <p:nvPicPr>
          <p:cNvPr id="12" name="Picture 11" descr="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33272"/>
            <a:ext cx="6858000" cy="4846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89520" y="1078992"/>
            <a:ext cx="4325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Principais insights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645920"/>
            <a:ext cx="4325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  • taxa_desmat_lag1 é o preditor mais relevante em todos os clusters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167128"/>
            <a:ext cx="4325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  • local_moran_i revela contágio regional — vizinhos de hotspots têm risco elevado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88336"/>
            <a:ext cx="4325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  • area_ti_pct tem efeito protetor consistente (SHAP negativo)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209544"/>
            <a:ext cx="4325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  • autos_ibama: dupla interpretação — fiscalização onde risco já é alto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730752"/>
            <a:ext cx="4325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  • pib_agropecuario amplifica risco na fronteira do agronegócio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251960"/>
            <a:ext cx="4325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  • std_desmat_roll3 captura instabilidade — regiões voláteis têm score maior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8188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6534"/>
                </a:solidFill>
              </a:rPr>
              <a:t>SHAP por cluster:</a:t>
            </a:r>
          </a:p>
        </p:txBody>
      </p:sp>
      <p:pic>
        <p:nvPicPr>
          <p:cNvPr id="21" name="Picture 20" descr="shap_por_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5093208"/>
            <a:ext cx="4325112" cy="6217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54864" cy="5303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56032"/>
            <a:ext cx="1102766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Municípios de Maior Risco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731520"/>
            <a:ext cx="110276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Score 0–100 = rank percentílico anual · maior valor = maior risco relativo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7824"/>
            <a:ext cx="121889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82512"/>
            <a:ext cx="12188952" cy="4800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8251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Preditor de Risco · Amazônia Legal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8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3327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6534"/>
                </a:solidFill>
              </a:rPr>
              <a:t>🏆  Top 10 · Dados Reais 2025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44752"/>
          <a:ext cx="658368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461356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</a:rPr>
                        <a:t>Município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</a:rPr>
                        <a:t>UF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</a:rPr>
                        <a:t>Taxa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</a:rPr>
                        <a:t>Desmat.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Nova Santa Helena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100.0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2.832%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62 km²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Nova Esperança do Piriá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99.9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2.050%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58 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União do Sul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99.8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1.613%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74 km²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Mojuí dos Campos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99.6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1.595%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49 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Marcelândia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99.5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1.286%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158 km²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Ananás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99.4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1.239%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20 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Nova Maringá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99.3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1.101%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127 km²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São José do Xingu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99.1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1.071%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80 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Uruará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99.0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1.058%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114 km²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136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Dom Eliseu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98.9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1.029%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0F172A"/>
                          </a:solidFill>
                        </a:rPr>
                        <a:t>54 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269480" y="103327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📡  Top 5 · Previsão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1444752"/>
            <a:ext cx="4572000" cy="38404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146304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Município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46304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UF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146304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Taxa est.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1847088"/>
            <a:ext cx="4572000" cy="548640"/>
          </a:xfrm>
          <a:prstGeom prst="rect">
            <a:avLst/>
          </a:prstGeom>
          <a:solidFill>
            <a:srgbClr val="FFEDD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24344" y="1938528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Nova Santa Helena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3104" y="1938528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1864" y="1938528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2.419%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2414016"/>
            <a:ext cx="4572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4344" y="250545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União do Sul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3104" y="250545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41864" y="250545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1.929%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80944"/>
            <a:ext cx="4572000" cy="548640"/>
          </a:xfrm>
          <a:prstGeom prst="rect">
            <a:avLst/>
          </a:prstGeom>
          <a:solidFill>
            <a:srgbClr val="FFEDD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24344" y="3072384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Marcelândia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3072384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MT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41864" y="3072384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1.883%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547872"/>
            <a:ext cx="4572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24344" y="3639312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Nova Esperança do Piriá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3639312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PA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41864" y="3639312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1.461%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9480" y="4114800"/>
            <a:ext cx="4572000" cy="548640"/>
          </a:xfrm>
          <a:prstGeom prst="rect">
            <a:avLst/>
          </a:prstGeom>
          <a:solidFill>
            <a:srgbClr val="FFEDD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4344" y="42062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Mojuí dos Campos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33104" y="42062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41864" y="42062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172A"/>
                </a:solidFill>
              </a:rPr>
              <a:t>1.309%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1447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</a:rPr>
              <a:t>Score = rank percentílico · 100 = município mais crítico daquele ano · 2026 usa LightGBM com features de 2025 como proxy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54864" cy="5303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56032"/>
            <a:ext cx="1102766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Dashboard Interativo — HTML Single-File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731520"/>
            <a:ext cx="110276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Disponível em: caioestrella.github.io/desmatamento-amazonia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7824"/>
            <a:ext cx="121889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82512"/>
            <a:ext cx="12188952" cy="4800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8251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Preditor de Risco · Amazônia Legal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9 / 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060704"/>
            <a:ext cx="5349240" cy="1417320"/>
          </a:xfrm>
          <a:prstGeom prst="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060704"/>
            <a:ext cx="5349240" cy="310896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09728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🗺  Mapa Coroplético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444752"/>
            <a:ext cx="512064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D6B"/>
                </a:solidFill>
              </a:rPr>
              <a:t>Score 0–100 por município. Filtrável por ano (2008–2026) e estado. Leaflet.js + GeoJSON inline.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59" y="1060704"/>
            <a:ext cx="5349240" cy="141732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59" y="1060704"/>
            <a:ext cx="5349240" cy="31089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109728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📊  Ranking &amp; KPIs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1444752"/>
            <a:ext cx="512064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D6B"/>
                </a:solidFill>
              </a:rPr>
              <a:t>Top-20 municípios de maior risco. KPIs dinâmicos: desmatamento total, taxa máxima, municípios acima de 0,2%/ano.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15184"/>
            <a:ext cx="5349240" cy="1417320"/>
          </a:xfrm>
          <a:prstGeom prst="rect">
            <a:avLst/>
          </a:prstGeom>
          <a:solidFill>
            <a:srgbClr val="FFEDD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615184"/>
            <a:ext cx="5349240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26517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🔵  Clusters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2999232"/>
            <a:ext cx="512064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D6B"/>
                </a:solidFill>
              </a:rPr>
              <a:t>Perfis estruturais dos 4 clusters. Cards descritivos + mapa colorido por tipo de município.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59" y="2615184"/>
            <a:ext cx="5349240" cy="1417320"/>
          </a:xfrm>
          <a:prstGeom prst="rect">
            <a:avLst/>
          </a:prstGeom>
          <a:solidFill>
            <a:srgbClr val="F5F3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59" y="2615184"/>
            <a:ext cx="5349240" cy="310896"/>
          </a:xfrm>
          <a:prstGeom prst="rect">
            <a:avLst/>
          </a:prstGeom>
          <a:solidFill>
            <a:srgbClr val="793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0488" y="26517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📈  Série Temporal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2999232"/>
            <a:ext cx="512064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D6B"/>
                </a:solidFill>
              </a:rPr>
              <a:t>Evolução do desmatamento por estado (2008–2026). Chart.js interativo.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39" y="4169664"/>
            <a:ext cx="5349240" cy="141732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39" y="4169664"/>
            <a:ext cx="5349240" cy="310896"/>
          </a:xfrm>
          <a:prstGeom prst="rect">
            <a:avLst/>
          </a:prstGeom>
          <a:solidFill>
            <a:srgbClr val="068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01568" y="420624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🧠  SHAP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1568" y="4553712"/>
            <a:ext cx="512064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D6B"/>
                </a:solidFill>
              </a:rPr>
              <a:t>Importância global das features + waterfall dos municípios mais críticos.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035040"/>
            <a:ext cx="11155680" cy="475488"/>
          </a:xfrm>
          <a:prstGeom prst="rect">
            <a:avLst/>
          </a:prstGeom>
          <a:solidFill>
            <a:srgbClr val="F0FDF4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6071616"/>
            <a:ext cx="107899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6534"/>
                </a:solidFill>
              </a:rPr>
              <a:t>🌐  HTML único  ·  6,5 MB  ·  Sem servidor  ·  Funciona offline após carregamento  ·  Tema claro / escuro  ·  Responsivo para mobile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54864" cy="530352"/>
          </a:xfrm>
          <a:prstGeom prst="rect">
            <a:avLst/>
          </a:prstGeom>
          <a:solidFill>
            <a:srgbClr val="334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256032"/>
            <a:ext cx="1102766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Próximos Passos &amp; 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731520"/>
            <a:ext cx="110276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Trabalhos futuros e decisões metodológicas documentadas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77824"/>
            <a:ext cx="12188952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82512"/>
            <a:ext cx="12188952" cy="4800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82512"/>
            <a:ext cx="1218895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Preditor de Risco · Amazônia Legal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10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6070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6534"/>
                </a:solidFill>
              </a:rPr>
              <a:t>Trabalhos futuros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463040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F172A"/>
                </a:solidFill>
              </a:rPr>
              <a:t>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1490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Validação temporal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14630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CV walk-forward (prever ano t com dados até t-1) — necessária para avaliar robustez pós-2019.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267712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F172A"/>
                </a:solidFill>
              </a:rPr>
              <a:t>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22951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Alertas DETER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226771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Integração com dados quinzenais do DETER/INPE para monitoramento em tempo quase-real.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72384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F172A"/>
                </a:solidFill>
              </a:rPr>
              <a:t>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30998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Features climáticas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3072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Incorporar precipitação (CHIRPS) e índices de seca (SPEI) como proxies de pressão antrópica.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77056"/>
            <a:ext cx="411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F172A"/>
                </a:solidFill>
              </a:rPr>
              <a:t>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9044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API REST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877056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D6B"/>
                </a:solidFill>
              </a:rPr>
              <a:t>Endpoint público para consumo por órgãos como IBAMA, ICMBio e secretarias estaduais.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060704"/>
            <a:ext cx="5852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Limitações documentadas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1463040"/>
            <a:ext cx="22860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4630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CV geográfica ≠ temporal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8105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4D6B"/>
                </a:solidFill>
              </a:rPr>
              <a:t>Score pode ser otimista para anos de ruptura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2212848"/>
            <a:ext cx="22860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21284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Score é ranking, não probabilidade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5603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4D6B"/>
                </a:solidFill>
              </a:rPr>
              <a:t>Score 80 = 80º percentil naquele ano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962656"/>
            <a:ext cx="22860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9626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R² baixo em RR+TO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3101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4D6B"/>
                </a:solidFill>
              </a:rPr>
              <a:t>Regiões esparsas — dados históricos limitados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712464"/>
            <a:ext cx="22860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71246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Features 2026 = proxies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0599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4D6B"/>
                </a:solidFill>
              </a:rPr>
              <a:t>INPE/IBGE publicam com ~12 meses de defasagem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4462272"/>
            <a:ext cx="22860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4622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72A"/>
                </a:solidFill>
              </a:rPr>
              <a:t>SHAP em dados de treino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097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4D6B"/>
                </a:solidFill>
              </a:rPr>
              <a:t>Sem holdout dedicado para explicabilidade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989320"/>
            <a:ext cx="11155680" cy="566928"/>
          </a:xfrm>
          <a:prstGeom prst="rect">
            <a:avLst/>
          </a:prstGeom>
          <a:solidFill>
            <a:srgbClr val="F0FDF4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035040"/>
            <a:ext cx="107899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6534"/>
                </a:solidFill>
              </a:rPr>
              <a:t>Caio Figueiredo  ·  Data Science Portfolio  ·  github.com/CaioEstrella/desmatamento-amazonia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